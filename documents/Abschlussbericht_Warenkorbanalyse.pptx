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de-DE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5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6"/>
    <p:restoredTop sz="94863"/>
  </p:normalViewPr>
  <p:slideViewPr>
    <p:cSldViewPr snapToGrid="0" snapToObjects="1">
      <p:cViewPr varScale="1">
        <p:scale>
          <a:sx n="116" d="100"/>
          <a:sy n="116" d="100"/>
        </p:scale>
        <p:origin x="1064" y="184"/>
      </p:cViewPr>
      <p:guideLst>
        <p:guide orient="horz" pos="1253"/>
        <p:guide pos="52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3160" y="17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385E5BF-0A1B-F849-9F7B-7E0F2C09EF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F75E8C-5A03-DB43-8411-2693B07001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5517E6-1AC2-684E-A7DE-C471425A08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F797C-C6EA-CC45-8A1C-B91D8DB9282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0650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DBCAC-5F00-47F0-BBE7-4862A47AF8BE}" type="datetimeFigureOut">
              <a:rPr lang="de-DE" smtClean="0"/>
              <a:t>05.10.25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ADF2-3AF6-4B39-998B-734B61508636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466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WI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33576" y="3600001"/>
            <a:ext cx="7995224" cy="1125144"/>
          </a:xfrm>
        </p:spPr>
        <p:txBody>
          <a:bodyPr/>
          <a:lstStyle>
            <a:lvl1pPr>
              <a:defRPr sz="34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31704" y="4770000"/>
            <a:ext cx="7997096" cy="1087508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accent2"/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201887" y="6115703"/>
            <a:ext cx="4464049" cy="160512"/>
          </a:xfrm>
        </p:spPr>
        <p:txBody>
          <a:bodyPr/>
          <a:lstStyle>
            <a:lvl1pPr marL="0" indent="0" algn="l">
              <a:buNone/>
              <a:defRPr sz="1000" b="1" cap="all" baseline="0">
                <a:solidFill>
                  <a:schemeClr val="accent2"/>
                </a:solidFill>
              </a:defRPr>
            </a:lvl1pPr>
          </a:lstStyle>
          <a:p>
            <a:pPr algn="l"/>
            <a:r>
              <a:rPr lang="de-DE" b="0" cap="none" baseline="0" dirty="0">
                <a:solidFill>
                  <a:schemeClr val="accent2"/>
                </a:solidFill>
              </a:rPr>
              <a:t xml:space="preserve">Fakultät für </a:t>
            </a:r>
            <a:r>
              <a:rPr lang="de-DE" cap="none" baseline="0" dirty="0">
                <a:solidFill>
                  <a:schemeClr val="accent2"/>
                </a:solidFill>
              </a:rPr>
              <a:t>Wirtschaftswissenschaft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/>
          </p:nvPr>
        </p:nvSpPr>
        <p:spPr>
          <a:xfrm>
            <a:off x="1201887" y="6292970"/>
            <a:ext cx="4464049" cy="39210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000"/>
            </a:lvl1pPr>
            <a:lvl2pPr marL="457631" indent="0">
              <a:buNone/>
              <a:defRPr/>
            </a:lvl2pPr>
            <a:lvl3pPr marL="914354" indent="0">
              <a:buNone/>
              <a:defRPr/>
            </a:lvl3pPr>
            <a:lvl4pPr marL="1371530" indent="0">
              <a:buNone/>
              <a:defRPr/>
            </a:lvl4pPr>
            <a:lvl5pPr marL="1828707" indent="0"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428801" cy="3053056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" y="1522800"/>
            <a:ext cx="2088000" cy="2088000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000" y="6176734"/>
            <a:ext cx="2476800" cy="44992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6274B83-C876-A448-81C1-073333A318B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742" y="6062229"/>
            <a:ext cx="672209" cy="6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WI_Inhalt_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15567" y="1260279"/>
            <a:ext cx="10808006" cy="648072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br>
              <a:rPr lang="de-DE" dirty="0"/>
            </a:br>
            <a:r>
              <a:rPr lang="de-DE" dirty="0"/>
              <a:t>Zweite Zeile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5567" y="2103139"/>
            <a:ext cx="10808006" cy="3933287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1pPr>
            <a:lvl2pPr marL="457631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2pPr>
            <a:lvl3pPr marL="914354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3pPr>
            <a:lvl4pPr marL="1371530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4pPr>
            <a:lvl5pPr marL="1828707" indent="0">
              <a:spcBef>
                <a:spcPts val="0"/>
              </a:spcBef>
              <a:spcAft>
                <a:spcPts val="1200"/>
              </a:spcAft>
              <a:buFontTx/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3289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WI_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15567" y="1260279"/>
            <a:ext cx="10804432" cy="648072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br>
              <a:rPr lang="de-DE" dirty="0"/>
            </a:br>
            <a:r>
              <a:rPr lang="de-DE" dirty="0"/>
              <a:t>Zwei-Zeilen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5566" y="2103139"/>
            <a:ext cx="10804433" cy="393328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0403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15567" y="1273687"/>
            <a:ext cx="10791566" cy="6582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  <a:br>
              <a:rPr lang="de-DE" dirty="0"/>
            </a:br>
            <a:r>
              <a:rPr lang="de-DE" dirty="0"/>
              <a:t>Zweite Zeile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15567" y="2103139"/>
            <a:ext cx="10791566" cy="39332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1296000" y="997834"/>
            <a:ext cx="10224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720000" y="6282000"/>
            <a:ext cx="1080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liennummernplatzhalter 5"/>
          <p:cNvSpPr txBox="1">
            <a:spLocks/>
          </p:cNvSpPr>
          <p:nvPr userDrawn="1"/>
        </p:nvSpPr>
        <p:spPr>
          <a:xfrm>
            <a:off x="715567" y="6426003"/>
            <a:ext cx="431456" cy="24100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de-DE"/>
            </a:defPPr>
            <a:lvl1pPr marL="0" algn="l" defTabSz="914353" rtl="0" eaLnBrk="1" latinLnBrk="0" hangingPunct="1">
              <a:defRPr sz="9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 dirty="0">
                <a:solidFill>
                  <a:schemeClr val="accent2"/>
                </a:solidFill>
              </a:rPr>
              <a:t>Folie</a:t>
            </a:r>
          </a:p>
        </p:txBody>
      </p:sp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79276"/>
            <a:ext cx="2476800" cy="448838"/>
          </a:xfrm>
          <a:prstGeom prst="rect">
            <a:avLst/>
          </a:prstGeom>
        </p:spPr>
      </p:pic>
      <p:sp>
        <p:nvSpPr>
          <p:cNvPr id="12" name="Textplatzhalter 7"/>
          <p:cNvSpPr txBox="1">
            <a:spLocks/>
          </p:cNvSpPr>
          <p:nvPr userDrawn="1"/>
        </p:nvSpPr>
        <p:spPr>
          <a:xfrm>
            <a:off x="6945452" y="745911"/>
            <a:ext cx="4561681" cy="216322"/>
          </a:xfrm>
          <a:prstGeom prst="rect">
            <a:avLst/>
          </a:prstGeom>
        </p:spPr>
        <p:txBody>
          <a:bodyPr lIns="0" tIns="0" rIns="0" bIns="0"/>
          <a:lstStyle>
            <a:lvl1pPr marL="0" indent="0" algn="r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None/>
              <a:defRPr sz="1000" b="1" kern="1200" cap="none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93143" indent="-235512" algn="l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Char char="-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8" algn="l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Char char="-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18" indent="-228588" algn="l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Char char="-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5" indent="-228588" algn="l" defTabSz="914353" rtl="0" eaLnBrk="1" latinLnBrk="0" hangingPunct="1">
              <a:spcBef>
                <a:spcPct val="20000"/>
              </a:spcBef>
              <a:buClr>
                <a:schemeClr val="accent2"/>
              </a:buClr>
              <a:buFont typeface="Symbol" panose="05050102010706020507" pitchFamily="18" charset="2"/>
              <a:buChar char="-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1" indent="-228588" algn="l" defTabSz="9143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48" indent="-228588" algn="l" defTabSz="9143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5" indent="-228588" algn="l" defTabSz="9143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1" indent="-228588" algn="l" defTabSz="9143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b="0" dirty="0"/>
              <a:t xml:space="preserve">Fakultät für </a:t>
            </a:r>
            <a:r>
              <a:rPr lang="de-DE" dirty="0"/>
              <a:t>Wirtschaftswissenschaft</a:t>
            </a: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3CA61A74-DEC1-634C-B654-FAC460C2E7C1}"/>
              </a:ext>
            </a:extLst>
          </p:cNvPr>
          <p:cNvSpPr txBox="1">
            <a:spLocks noGrp="1"/>
          </p:cNvSpPr>
          <p:nvPr userDrawn="1"/>
        </p:nvSpPr>
        <p:spPr bwMode="auto">
          <a:xfrm>
            <a:off x="3601072" y="6419563"/>
            <a:ext cx="7890576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r"/>
            <a:r>
              <a:rPr lang="de-DE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 xml:space="preserve">Günenc, Firat </a:t>
            </a:r>
            <a:r>
              <a:rPr lang="de-DE" sz="9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, Lehrstuhl für Betriebs­wirtschafts­lehre, insbe­son­dere Betriebliche Anwen­dungs­systeme</a:t>
            </a:r>
          </a:p>
          <a:p>
            <a:endParaRPr lang="de-DE" sz="1000" dirty="0"/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6FB03001-9332-1146-A331-8E68A36B8787}"/>
              </a:ext>
            </a:extLst>
          </p:cNvPr>
          <p:cNvSpPr txBox="1">
            <a:spLocks noGrp="1"/>
          </p:cNvSpPr>
          <p:nvPr userDrawn="1"/>
        </p:nvSpPr>
        <p:spPr bwMode="auto">
          <a:xfrm>
            <a:off x="1955905" y="6431559"/>
            <a:ext cx="1232515" cy="25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de-DE" altLang="de-DE" sz="1000" dirty="0">
                <a:solidFill>
                  <a:schemeClr val="accent2"/>
                </a:solidFill>
                <a:latin typeface="+mn-lt"/>
              </a:rPr>
              <a:t>21.06.2026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70B2CCCC-FA3C-074A-A065-21CE9F9F700F}"/>
              </a:ext>
            </a:extLst>
          </p:cNvPr>
          <p:cNvSpPr txBox="1">
            <a:spLocks noGrp="1"/>
          </p:cNvSpPr>
          <p:nvPr userDrawn="1"/>
        </p:nvSpPr>
        <p:spPr bwMode="auto">
          <a:xfrm>
            <a:off x="1027343" y="6426003"/>
            <a:ext cx="432000" cy="241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defTabSz="958850">
              <a:spcBef>
                <a:spcPct val="50000"/>
              </a:spcBef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defTabSz="958850" eaLnBrk="0" fontAlgn="base" hangingPunct="0">
              <a:spcBef>
                <a:spcPct val="5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1" hangingPunct="1">
              <a:spcBef>
                <a:spcPct val="0"/>
              </a:spcBef>
            </a:pPr>
            <a:fld id="{458527E0-C00C-4154-A0C9-CBD200C26423}" type="slidenum">
              <a:rPr lang="de-DE" altLang="de-DE" sz="1000">
                <a:solidFill>
                  <a:schemeClr val="accent2"/>
                </a:solidFill>
                <a:latin typeface="+mn-lt"/>
              </a:rPr>
              <a:pPr algn="l" eaLnBrk="1" hangingPunct="1">
                <a:spcBef>
                  <a:spcPct val="0"/>
                </a:spcBef>
              </a:pPr>
              <a:t>‹Nr.›</a:t>
            </a:fld>
            <a:endParaRPr lang="de-DE" altLang="de-DE" sz="1000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548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53" rtl="0" eaLnBrk="1" latinLnBrk="0" hangingPunct="1">
        <a:spcBef>
          <a:spcPct val="0"/>
        </a:spcBef>
        <a:buNone/>
        <a:defRPr sz="2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50022" indent="-250022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693143" indent="-235512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spcBef>
          <a:spcPct val="20000"/>
        </a:spcBef>
        <a:buClr>
          <a:schemeClr val="accent2"/>
        </a:buClr>
        <a:buFont typeface="Symbol" panose="05050102010706020507" pitchFamily="18" charset="2"/>
        <a:buChar char="-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chart_lift.png"/><Relationship Id="rId11" Type="http://schemas.openxmlformats.org/officeDocument/2006/relationships/image" Target="../media/chart_scatter.png"/><Relationship Id="rId12" Type="http://schemas.openxmlformats.org/officeDocument/2006/relationships/image" Target="../media/chart_freq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chart_lift.png"/><Relationship Id="rId11" Type="http://schemas.openxmlformats.org/officeDocument/2006/relationships/image" Target="../media/chart_scatter.png"/><Relationship Id="rId12" Type="http://schemas.openxmlformats.org/officeDocument/2006/relationships/image" Target="../media/chart_freq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chart_lift.png"/><Relationship Id="rId11" Type="http://schemas.openxmlformats.org/officeDocument/2006/relationships/image" Target="../media/chart_scatter.png"/><Relationship Id="rId12" Type="http://schemas.openxmlformats.org/officeDocument/2006/relationships/image" Target="../media/chart_freq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Warenkorbanalyse für ein Black-Friday-Angebot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Günenc, Firat, 1334549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Fakultät für Wirtschaftswissenschaft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Lehrstuhl für Betriebs­wirtschafts­lehre, insbe­son­dere Betriebliche Anwen­dungs­systeme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Ausgangslage &amp; Analysevorgehen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715567" y="2103139"/>
            <a:ext cx="10808006" cy="205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lnSpc>
                <a:spcPct val="108000"/>
              </a:lnSpc>
              <a:spcAft>
                <a:spcPts val="700"/>
              </a:spcAft>
              <a:buFont typeface="Arial"/>
              <a:buChar char="•"/>
            </a:pPr>
            <a:r>
              <a:rPr lang="de-DE" sz="1500" b="1" dirty="0">
                <a:solidFill>
                  <a:srgbClr val="333333"/>
                </a:solidFill>
              </a:rPr>
              <a:t xml:space="preserve">Ziel: </a:t>
            </a:r>
            <a:r>
              <a:rPr lang="de-DE" sz="1500" dirty="0">
                <a:solidFill>
                  <a:srgbClr val="333333"/>
                </a:solidFill>
              </a:rPr>
              <a:t>Für das Black-Friday-Angebot soll datenbasiert ermittelt werden, welche Produkte typischerweise gemeinsam gekauft werden.</a:t>
            </a:r>
          </a:p>
          <a:p>
            <a:pPr marL="285750" indent="-285750">
              <a:lnSpc>
                <a:spcPct val="108000"/>
              </a:lnSpc>
              <a:spcAft>
                <a:spcPts val="700"/>
              </a:spcAft>
              <a:buFont typeface="Arial"/>
              <a:buChar char="•"/>
            </a:pPr>
            <a:r>
              <a:rPr lang="de-DE" sz="1500" b="1" dirty="0">
                <a:solidFill>
                  <a:srgbClr val="333333"/>
                </a:solidFill>
              </a:rPr>
              <a:t xml:space="preserve">Methode: </a:t>
            </a:r>
            <a:r>
              <a:rPr lang="de-DE" sz="1500" dirty="0">
                <a:solidFill>
                  <a:srgbClr val="333333"/>
                </a:solidFill>
              </a:rPr>
              <a:t>Warenkorbanalyse mit Assoziationsregeln (Apriori-Algorithmus) auf Basis von 10.207 Bestellungen.</a:t>
            </a:r>
          </a:p>
          <a:p>
            <a:pPr marL="285750" indent="-285750">
              <a:lnSpc>
                <a:spcPct val="108000"/>
              </a:lnSpc>
              <a:spcAft>
                <a:spcPts val="700"/>
              </a:spcAft>
              <a:buFont typeface="Arial"/>
              <a:buChar char="•"/>
            </a:pPr>
            <a:r>
              <a:rPr lang="de-DE" sz="1500" b="1" dirty="0">
                <a:solidFill>
                  <a:srgbClr val="333333"/>
                </a:solidFill>
              </a:rPr>
              <a:t xml:space="preserve">Logik: </a:t>
            </a:r>
            <a:r>
              <a:rPr lang="de-DE" sz="1500" dirty="0">
                <a:solidFill>
                  <a:srgbClr val="333333"/>
                </a:solidFill>
              </a:rPr>
              <a:t>Regeln der Form „Wer A kauft, kauft auch B“ liefern die Grundlage für Bundles, Cross-Selling und personalisierte Kampagnen.</a:t>
            </a:r>
          </a:p>
        </p:txBody>
      </p:sp>
      <p:sp>
        <p:nvSpPr>
          <p:cNvPr id="10" name="chip1"/>
          <p:cNvSpPr/>
          <p:nvPr/>
        </p:nvSpPr>
        <p:spPr>
          <a:xfrm>
            <a:off x="715567" y="4520000"/>
            <a:ext cx="2514501" cy="1150000"/>
          </a:xfrm>
          <a:prstGeom prst="roundRect">
            <a:avLst>
              <a:gd name="adj" fmla="val 8000"/>
            </a:avLst>
          </a:prstGeom>
          <a:solidFill>
            <a:srgbClr val="336600"/>
          </a:solidFill>
        </p:spPr>
        <p:txBody>
          <a:bodyPr lIns="100000" tIns="80000" rIns="100000" bIns="80000" anchor="ctr"/>
          <a:lstStyle/>
          <a:p>
            <a:pPr algn="l"/>
            <a:r>
              <a:rPr lang="de-DE" sz="1500" b="1" dirty="0">
                <a:solidFill>
                  <a:srgbClr val="FFFFFF"/>
                </a:solidFill>
              </a:rPr>
              <a:t>1  Daten aufbereiten</a:t>
            </a:r>
          </a:p>
          <a:p>
            <a:pPr algn="l"/>
            <a:r>
              <a:rPr lang="de-DE" sz="1050" dirty="0">
                <a:solidFill>
                  <a:srgbClr val="EAF1E0"/>
                </a:solidFill>
              </a:rPr>
              <a:t>Bestellungen bereinigen</a:t>
            </a:r>
          </a:p>
        </p:txBody>
      </p:sp>
      <p:sp>
        <p:nvSpPr>
          <p:cNvPr id="11" name="chip2"/>
          <p:cNvSpPr/>
          <p:nvPr/>
        </p:nvSpPr>
        <p:spPr>
          <a:xfrm>
            <a:off x="3480068" y="4520000"/>
            <a:ext cx="2514501" cy="1150000"/>
          </a:xfrm>
          <a:prstGeom prst="roundRect">
            <a:avLst>
              <a:gd name="adj" fmla="val 8000"/>
            </a:avLst>
          </a:prstGeom>
          <a:solidFill>
            <a:srgbClr val="004C97"/>
          </a:solidFill>
        </p:spPr>
        <p:txBody>
          <a:bodyPr lIns="100000" tIns="80000" rIns="100000" bIns="80000" anchor="ctr"/>
          <a:lstStyle/>
          <a:p>
            <a:pPr algn="l"/>
            <a:r>
              <a:rPr lang="de-DE" sz="1500" b="1" dirty="0">
                <a:solidFill>
                  <a:srgbClr val="FFFFFF"/>
                </a:solidFill>
              </a:rPr>
              <a:t>2  Transaktionen</a:t>
            </a:r>
          </a:p>
          <a:p>
            <a:pPr algn="l"/>
            <a:r>
              <a:rPr lang="de-DE" sz="1050" dirty="0">
                <a:solidFill>
                  <a:srgbClr val="D6E2F0"/>
                </a:solidFill>
              </a:rPr>
              <a:t>Produktgruppen je Bestellung</a:t>
            </a:r>
          </a:p>
        </p:txBody>
      </p:sp>
      <p:sp>
        <p:nvSpPr>
          <p:cNvPr id="12" name="chip3"/>
          <p:cNvSpPr/>
          <p:nvPr/>
        </p:nvSpPr>
        <p:spPr>
          <a:xfrm>
            <a:off x="6244569" y="4520000"/>
            <a:ext cx="2514501" cy="1150000"/>
          </a:xfrm>
          <a:prstGeom prst="roundRect">
            <a:avLst>
              <a:gd name="adj" fmla="val 8000"/>
            </a:avLst>
          </a:prstGeom>
          <a:solidFill>
            <a:srgbClr val="336600"/>
          </a:solidFill>
        </p:spPr>
        <p:txBody>
          <a:bodyPr lIns="100000" tIns="80000" rIns="100000" bIns="80000" anchor="ctr"/>
          <a:lstStyle/>
          <a:p>
            <a:pPr algn="l"/>
            <a:r>
              <a:rPr lang="de-DE" sz="1500" b="1" dirty="0">
                <a:solidFill>
                  <a:srgbClr val="FFFFFF"/>
                </a:solidFill>
              </a:rPr>
              <a:t>3  Apriori</a:t>
            </a:r>
          </a:p>
          <a:p>
            <a:pPr algn="l"/>
            <a:r>
              <a:rPr lang="de-DE" sz="1050" dirty="0">
                <a:solidFill>
                  <a:srgbClr val="EAF1E0"/>
                </a:solidFill>
              </a:rPr>
              <a:t>Support, Konfidenz, Lift</a:t>
            </a:r>
          </a:p>
        </p:txBody>
      </p:sp>
      <p:sp>
        <p:nvSpPr>
          <p:cNvPr id="13" name="chip4"/>
          <p:cNvSpPr/>
          <p:nvPr/>
        </p:nvSpPr>
        <p:spPr>
          <a:xfrm>
            <a:off x="9009070" y="4520000"/>
            <a:ext cx="2514503" cy="1150000"/>
          </a:xfrm>
          <a:prstGeom prst="roundRect">
            <a:avLst>
              <a:gd name="adj" fmla="val 8000"/>
            </a:avLst>
          </a:prstGeom>
          <a:solidFill>
            <a:srgbClr val="004C97"/>
          </a:solidFill>
        </p:spPr>
        <p:txBody>
          <a:bodyPr lIns="100000" tIns="80000" rIns="100000" bIns="80000" anchor="ctr"/>
          <a:lstStyle/>
          <a:p>
            <a:pPr algn="l"/>
            <a:r>
              <a:rPr lang="de-DE" sz="1500" b="1" dirty="0">
                <a:solidFill>
                  <a:srgbClr val="FFFFFF"/>
                </a:solidFill>
              </a:rPr>
              <a:t>4  Empfehlungen</a:t>
            </a:r>
          </a:p>
          <a:p>
            <a:pPr algn="l"/>
            <a:r>
              <a:rPr lang="de-DE" sz="1050" dirty="0">
                <a:solidFill>
                  <a:srgbClr val="D6E2F0"/>
                </a:solidFill>
              </a:rPr>
              <a:t>Regeln interpretieren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Methodik: Kennzahlen, Parameter &amp; Betrachtungsebene</a:t>
            </a:r>
          </a:p>
        </p:txBody>
      </p:sp>
      <p:sp>
        <p:nvSpPr>
          <p:cNvPr id="3" name="LinkeSpalte"/>
          <p:cNvSpPr txBox="1"/>
          <p:nvPr/>
        </p:nvSpPr>
        <p:spPr>
          <a:xfrm>
            <a:off x="715567" y="2103139"/>
            <a:ext cx="5250000" cy="365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285750" indent="-285750">
              <a:lnSpc>
                <a:spcPct val="106000"/>
              </a:lnSpc>
              <a:spcAft>
                <a:spcPts val="600"/>
              </a:spcAft>
              <a:buFont typeface="Arial"/>
              <a:buChar char="•"/>
            </a:pPr>
            <a:r>
              <a:rPr lang="de-DE" sz="1400" b="1" dirty="0">
                <a:solidFill>
                  <a:srgbClr val="004C97"/>
                </a:solidFill>
              </a:rPr>
              <a:t xml:space="preserve">Support: </a:t>
            </a:r>
            <a:r>
              <a:rPr lang="de-DE" sz="1400" dirty="0">
                <a:solidFill>
                  <a:srgbClr val="333333"/>
                </a:solidFill>
              </a:rPr>
              <a:t>Anteil aller Bestellungen, in denen die Produktkombination gemeinsam auftritt.</a:t>
            </a:r>
          </a:p>
          <a:p>
            <a:pPr marL="285750" indent="-285750">
              <a:lnSpc>
                <a:spcPct val="106000"/>
              </a:lnSpc>
              <a:spcAft>
                <a:spcPts val="600"/>
              </a:spcAft>
              <a:buFont typeface="Arial"/>
              <a:buChar char="•"/>
            </a:pPr>
            <a:r>
              <a:rPr lang="de-DE" sz="1400" b="1" dirty="0">
                <a:solidFill>
                  <a:srgbClr val="004C97"/>
                </a:solidFill>
              </a:rPr>
              <a:t xml:space="preserve">Konfidenz: </a:t>
            </a:r>
            <a:r>
              <a:rPr lang="de-DE" sz="1400" dirty="0">
                <a:solidFill>
                  <a:srgbClr val="333333"/>
                </a:solidFill>
              </a:rPr>
              <a:t>Wahrscheinlichkeit, dass B gekauft wird, wenn A bereits im Warenkorb liegt.</a:t>
            </a:r>
          </a:p>
          <a:p>
            <a:pPr marL="285750" indent="-285750">
              <a:lnSpc>
                <a:spcPct val="106000"/>
              </a:lnSpc>
              <a:spcAft>
                <a:spcPts val="600"/>
              </a:spcAft>
              <a:buFont typeface="Arial"/>
              <a:buChar char="•"/>
            </a:pPr>
            <a:r>
              <a:rPr lang="de-DE" sz="1400" b="1" dirty="0">
                <a:solidFill>
                  <a:srgbClr val="004C97"/>
                </a:solidFill>
              </a:rPr>
              <a:t xml:space="preserve">Lift: </a:t>
            </a:r>
            <a:r>
              <a:rPr lang="de-DE" sz="1400" dirty="0">
                <a:solidFill>
                  <a:srgbClr val="333333"/>
                </a:solidFill>
              </a:rPr>
              <a:t>Faktor gegenüber dem Zufall. Lift &gt; 1 bedeutet eine überzufällig häufige Kombination.</a:t>
            </a:r>
          </a:p>
          <a:p>
            <a:pPr marL="285750" indent="-285750">
              <a:lnSpc>
                <a:spcPct val="106000"/>
              </a:lnSpc>
              <a:spcAft>
                <a:spcPts val="600"/>
              </a:spcAft>
              <a:buFont typeface="Arial"/>
              <a:buChar char="•"/>
            </a:pPr>
            <a:r>
              <a:rPr lang="de-DE" sz="1400" b="1" dirty="0">
                <a:solidFill>
                  <a:srgbClr val="333333"/>
                </a:solidFill>
              </a:rPr>
              <a:t xml:space="preserve">Begründung der Parameter: </a:t>
            </a:r>
            <a:r>
              <a:rPr lang="de-DE" sz="1400" dirty="0">
                <a:solidFill>
                  <a:srgbClr val="333333"/>
                </a:solidFill>
              </a:rPr>
              <a:t>1 % Support entspricht rund 100 Bestellungen – niedrig genug für kleinere Gruppen, hoch genug gegen Zufallsrauschen; 50 % Konfidenz sichert belastbare Regeln.</a:t>
            </a:r>
          </a:p>
        </p:txBody>
      </p:sp>
      <p:sp>
        <p:nvSpPr>
          <p:cNvPr id="20" name="BoxParam"/>
          <p:cNvSpPr/>
          <p:nvPr/>
        </p:nvSpPr>
        <p:spPr>
          <a:xfrm>
            <a:off x="6273573" y="2103139"/>
            <a:ext cx="5250000" cy="1620000"/>
          </a:xfrm>
          <a:prstGeom prst="roundRect">
            <a:avLst>
              <a:gd name="adj" fmla="val 6000"/>
            </a:avLst>
          </a:prstGeom>
          <a:solidFill>
            <a:srgbClr val="336600"/>
          </a:solidFill>
        </p:spPr>
        <p:txBody>
          <a:bodyPr lIns="220000" tIns="160000" rIns="220000" bIns="160000" anchor="ctr"/>
          <a:lstStyle/>
          <a:p>
            <a:r>
              <a:rPr lang="de-DE" sz="1500" b="1" dirty="0">
                <a:solidFill>
                  <a:srgbClr val="FFFFFF"/>
                </a:solidFill>
              </a:rPr>
              <a:t>Gewählte Parameter</a:t>
            </a:r>
          </a:p>
          <a:p>
            <a:pPr>
              <a:spcBef>
                <a:spcPts val="500"/>
              </a:spcBef>
            </a:pPr>
            <a:r>
              <a:rPr lang="de-DE" sz="1350" dirty="0">
                <a:solidFill>
                  <a:srgbClr val="FFFFFF"/>
                </a:solidFill>
              </a:rPr>
              <a:t>Mindestsupport: 0,01  (1 %)</a:t>
            </a:r>
          </a:p>
          <a:p>
            <a:r>
              <a:rPr lang="de-DE" sz="1350" dirty="0">
                <a:solidFill>
                  <a:srgbClr val="FFFFFF"/>
                </a:solidFill>
              </a:rPr>
              <a:t>Mindestkonfidenz: 0,50  (50 %)</a:t>
            </a:r>
          </a:p>
          <a:p>
            <a:r>
              <a:rPr lang="de-DE" sz="1350" dirty="0">
                <a:solidFill>
                  <a:srgbClr val="FFFFFF"/>
                </a:solidFill>
              </a:rPr>
              <a:t>Bewertung der Stärke über den Lift</a:t>
            </a:r>
          </a:p>
        </p:txBody>
      </p:sp>
      <p:sp>
        <p:nvSpPr>
          <p:cNvPr id="21" name="BoxEbene"/>
          <p:cNvSpPr/>
          <p:nvPr/>
        </p:nvSpPr>
        <p:spPr>
          <a:xfrm>
            <a:off x="6273573" y="3920000"/>
            <a:ext cx="5250000" cy="1833139"/>
          </a:xfrm>
          <a:prstGeom prst="roundRect">
            <a:avLst>
              <a:gd name="adj" fmla="val 6000"/>
            </a:avLst>
          </a:prstGeom>
          <a:solidFill>
            <a:srgbClr val="EAF1E0"/>
          </a:solidFill>
          <a:ln w="19050">
            <a:solidFill>
              <a:srgbClr val="336600"/>
            </a:solidFill>
          </a:ln>
        </p:spPr>
        <p:txBody>
          <a:bodyPr lIns="220000" tIns="160000" rIns="220000" bIns="160000" anchor="ctr"/>
          <a:lstStyle/>
          <a:p>
            <a:r>
              <a:rPr lang="de-DE" sz="1500" b="1" dirty="0">
                <a:solidFill>
                  <a:srgbClr val="336600"/>
                </a:solidFill>
              </a:rPr>
              <a:t>Betrachtungsebene: Produktgruppe</a:t>
            </a:r>
          </a:p>
          <a:p>
            <a:pPr>
              <a:spcBef>
                <a:spcPts val="500"/>
              </a:spcBef>
            </a:pPr>
            <a:r>
              <a:rPr lang="de-DE" sz="1350" dirty="0">
                <a:solidFill>
                  <a:srgbClr val="333333"/>
                </a:solidFill>
              </a:rPr>
              <a:t>Bei dem breiten Sortiment der BAS Cycling hätten einzelne Artikel einen zu geringen Support. Die Analyse auf Ebene der Produktgruppen liefert daher deutlich belastbarere und besser interpretierbare Regeln.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Ergebnisse: Stärkste Produktgruppen-Kopplungen</a:t>
            </a:r>
          </a:p>
        </p:txBody>
      </p:sp>
      <p:pic>
        <p:nvPicPr>
          <p:cNvPr id="3" name="LiftChar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567" y="2280000"/>
            <a:ext cx="5800000" cy="3195592"/>
          </a:xfrm>
          <a:prstGeom prst="rect">
            <a:avLst/>
          </a:prstGeom>
        </p:spPr>
      </p:pic>
      <p:sp>
        <p:nvSpPr>
          <p:cNvPr id="30" name="b1"/>
          <p:cNvSpPr/>
          <p:nvPr/>
        </p:nvSpPr>
        <p:spPr>
          <a:xfrm>
            <a:off x="6700000" y="2250000"/>
            <a:ext cx="4823573" cy="820000"/>
          </a:xfrm>
          <a:prstGeom prst="roundRect">
            <a:avLst>
              <a:gd name="adj" fmla="val 9000"/>
            </a:avLst>
          </a:prstGeom>
          <a:solidFill>
            <a:srgbClr val="004C97"/>
          </a:solidFill>
        </p:spPr>
        <p:txBody>
          <a:bodyPr lIns="180000" tIns="60000" rIns="160000" bIns="60000" anchor="ctr"/>
          <a:lstStyle/>
          <a:p>
            <a:r>
              <a:rPr lang="de-DE" sz="1450" b="1" dirty="0">
                <a:solidFill>
                  <a:srgbClr val="FFFFFF"/>
                </a:solidFill>
              </a:rPr>
              <a:t>Fahrradcomputer + Rennrad</a:t>
            </a:r>
          </a:p>
          <a:p>
            <a:r>
              <a:rPr lang="de-DE" sz="1150" dirty="0">
                <a:solidFill>
                  <a:srgbClr val="D6E2F0"/>
                </a:solidFill>
              </a:rPr>
              <a:t>Lift 18,8  ·  Konfidenz 94 %</a:t>
            </a:r>
          </a:p>
        </p:txBody>
      </p:sp>
      <p:sp>
        <p:nvSpPr>
          <p:cNvPr id="31" name="b2"/>
          <p:cNvSpPr/>
          <p:nvPr/>
        </p:nvSpPr>
        <p:spPr>
          <a:xfrm>
            <a:off x="6700000" y="3250000"/>
            <a:ext cx="4823573" cy="820000"/>
          </a:xfrm>
          <a:prstGeom prst="roundRect">
            <a:avLst>
              <a:gd name="adj" fmla="val 9000"/>
            </a:avLst>
          </a:prstGeom>
          <a:solidFill>
            <a:srgbClr val="004C97"/>
          </a:solidFill>
        </p:spPr>
        <p:txBody>
          <a:bodyPr lIns="180000" tIns="60000" rIns="160000" bIns="60000" anchor="ctr"/>
          <a:lstStyle/>
          <a:p>
            <a:r>
              <a:rPr lang="de-DE" sz="1450" b="1" dirty="0">
                <a:solidFill>
                  <a:srgbClr val="FFFFFF"/>
                </a:solidFill>
              </a:rPr>
              <a:t>E-Lastenfahrrad + Rucksack</a:t>
            </a:r>
          </a:p>
          <a:p>
            <a:r>
              <a:rPr lang="de-DE" sz="1150" dirty="0">
                <a:solidFill>
                  <a:srgbClr val="D6E2F0"/>
                </a:solidFill>
              </a:rPr>
              <a:t>Lift 15,8  ·  Konfidenz 73 %</a:t>
            </a:r>
          </a:p>
        </p:txBody>
      </p:sp>
      <p:sp>
        <p:nvSpPr>
          <p:cNvPr id="32" name="b3"/>
          <p:cNvSpPr/>
          <p:nvPr/>
        </p:nvSpPr>
        <p:spPr>
          <a:xfrm>
            <a:off x="6700000" y="4250000"/>
            <a:ext cx="4823573" cy="820000"/>
          </a:xfrm>
          <a:prstGeom prst="roundRect">
            <a:avLst>
              <a:gd name="adj" fmla="val 9000"/>
            </a:avLst>
          </a:prstGeom>
          <a:solidFill>
            <a:srgbClr val="336600"/>
          </a:solidFill>
        </p:spPr>
        <p:txBody>
          <a:bodyPr lIns="180000" tIns="60000" rIns="160000" bIns="60000" anchor="ctr"/>
          <a:lstStyle/>
          <a:p>
            <a:r>
              <a:rPr lang="de-DE" sz="1450" b="1" dirty="0">
                <a:solidFill>
                  <a:srgbClr val="FFFFFF"/>
                </a:solidFill>
              </a:rPr>
              <a:t>Trekkingrad + Fahrradtasche</a:t>
            </a:r>
          </a:p>
          <a:p>
            <a:r>
              <a:rPr lang="de-DE" sz="1150" dirty="0">
                <a:solidFill>
                  <a:srgbClr val="EAF1E0"/>
                </a:solidFill>
              </a:rPr>
              <a:t>Lift 3,6  ·  Konfidenz 83 %  ·  hoher Support (~9 %)</a:t>
            </a:r>
          </a:p>
        </p:txBody>
      </p:sp>
      <p:sp>
        <p:nvSpPr>
          <p:cNvPr id="33" name="interp"/>
          <p:cNvSpPr txBox="1"/>
          <p:nvPr/>
        </p:nvSpPr>
        <p:spPr>
          <a:xfrm>
            <a:off x="6700000" y="5200000"/>
            <a:ext cx="4823573" cy="57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de-DE" sz="1200" i="1" dirty="0">
                <a:solidFill>
                  <a:srgbClr val="555555"/>
                </a:solidFill>
              </a:rPr>
              <a:t>Alle Kombinationen liegen deutlich über Lift 1 – sie treten also klar überzufällig gemeinsam auf.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Regel-Landschaft &amp; Struktur des Sortiments</a:t>
            </a:r>
          </a:p>
        </p:txBody>
      </p:sp>
      <p:sp>
        <p:nvSpPr>
          <p:cNvPr id="3" name="lbl1"/>
          <p:cNvSpPr txBox="1"/>
          <p:nvPr/>
        </p:nvSpPr>
        <p:spPr>
          <a:xfrm>
            <a:off x="715567" y="2120000"/>
            <a:ext cx="5100000" cy="32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sz="1300" b="1" dirty="0">
                <a:solidFill>
                  <a:srgbClr val="004C97"/>
                </a:solidFill>
              </a:rPr>
              <a:t>Support, Konfidenz und Lift aller Regeln</a:t>
            </a:r>
          </a:p>
        </p:txBody>
      </p:sp>
      <p:sp>
        <p:nvSpPr>
          <p:cNvPr id="4" name="lbl2"/>
          <p:cNvSpPr txBox="1"/>
          <p:nvPr/>
        </p:nvSpPr>
        <p:spPr>
          <a:xfrm>
            <a:off x="6423573" y="2120000"/>
            <a:ext cx="5100000" cy="32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sz="1300" b="1" dirty="0">
                <a:solidFill>
                  <a:srgbClr val="004C97"/>
                </a:solidFill>
              </a:rPr>
              <a:t>Häufigste Produktgruppen im Warenkorb</a:t>
            </a:r>
          </a:p>
        </p:txBody>
      </p:sp>
      <p:pic>
        <p:nvPicPr>
          <p:cNvPr id="5" name="Scatt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567" y="2480000"/>
            <a:ext cx="5100000" cy="3035714"/>
          </a:xfrm>
          <a:prstGeom prst="rect">
            <a:avLst/>
          </a:prstGeom>
        </p:spPr>
      </p:pic>
      <p:pic>
        <p:nvPicPr>
          <p:cNvPr id="6" name="Freq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3573" y="2540000"/>
            <a:ext cx="5100000" cy="2912621"/>
          </a:xfrm>
          <a:prstGeom prst="rect">
            <a:avLst/>
          </a:prstGeom>
        </p:spPr>
      </p:pic>
      <p:sp>
        <p:nvSpPr>
          <p:cNvPr id="7" name="interp"/>
          <p:cNvSpPr/>
          <p:nvPr/>
        </p:nvSpPr>
        <p:spPr>
          <a:xfrm>
            <a:off x="715567" y="5680000"/>
            <a:ext cx="10808006" cy="560000"/>
          </a:xfrm>
          <a:prstGeom prst="roundRect">
            <a:avLst>
              <a:gd name="adj" fmla="val 12000"/>
            </a:avLst>
          </a:prstGeom>
          <a:solidFill>
            <a:srgbClr val="EAF1E0"/>
          </a:solidFill>
        </p:spPr>
        <p:txBody>
          <a:bodyPr lIns="200000" tIns="40000" rIns="200000" bIns="40000" anchor="ctr"/>
          <a:lstStyle/>
          <a:p>
            <a:r>
              <a:rPr lang="de-DE" sz="1250" dirty="0">
                <a:solidFill>
                  <a:srgbClr val="333333"/>
                </a:solidFill>
              </a:rPr>
              <a:t>Hoher Lift bei Nischen-Gruppen (z. B. Rennrad-Zubehör) eignet sich für gezielte Aktionen; hoher Support bei Trekking-Produkten für breit beworbene Standard-Bundles.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Handlungsempfehlungen für das Management</a:t>
            </a:r>
          </a:p>
        </p:txBody>
      </p:sp>
      <p:sp>
        <p:nvSpPr>
          <p:cNvPr id="10" name="c1"/>
          <p:cNvSpPr/>
          <p:nvPr/>
        </p:nvSpPr>
        <p:spPr>
          <a:xfrm>
            <a:off x="715567" y="2103139"/>
            <a:ext cx="5250000" cy="1680000"/>
          </a:xfrm>
          <a:prstGeom prst="roundRect">
            <a:avLst>
              <a:gd name="adj" fmla="val 6000"/>
            </a:avLst>
          </a:prstGeom>
          <a:solidFill>
            <a:srgbClr val="336600"/>
          </a:solidFill>
        </p:spPr>
        <p:txBody>
          <a:bodyPr lIns="220000" tIns="150000" rIns="220000" bIns="150000" anchor="t"/>
          <a:lstStyle/>
          <a:p>
            <a:r>
              <a:rPr lang="de-DE" sz="1500" b="1" dirty="0">
                <a:solidFill>
                  <a:srgbClr val="FFFFFF"/>
                </a:solidFill>
              </a:rPr>
              <a:t>1  Black-Friday-Bundles</a:t>
            </a:r>
          </a:p>
          <a:p>
            <a:pPr>
              <a:spcBef>
                <a:spcPts val="500"/>
              </a:spcBef>
            </a:pPr>
            <a:r>
              <a:rPr lang="de-DE" sz="1300" dirty="0">
                <a:solidFill>
                  <a:srgbClr val="FFFFFF"/>
                </a:solidFill>
              </a:rPr>
              <a:t>Stark gekoppelte Gruppen als rabattierte Sets bewerben: Rennrad + Fahrradcomputer sowie E-Lastenfahrrad + Rucksack.</a:t>
            </a:r>
          </a:p>
        </p:txBody>
      </p:sp>
      <p:sp>
        <p:nvSpPr>
          <p:cNvPr id="11" name="c2"/>
          <p:cNvSpPr/>
          <p:nvPr/>
        </p:nvSpPr>
        <p:spPr>
          <a:xfrm>
            <a:off x="6273573" y="2103139"/>
            <a:ext cx="5250000" cy="1680000"/>
          </a:xfrm>
          <a:prstGeom prst="roundRect">
            <a:avLst>
              <a:gd name="adj" fmla="val 6000"/>
            </a:avLst>
          </a:prstGeom>
          <a:solidFill>
            <a:srgbClr val="004C97"/>
          </a:solidFill>
        </p:spPr>
        <p:txBody>
          <a:bodyPr lIns="220000" tIns="150000" rIns="220000" bIns="150000" anchor="t"/>
          <a:lstStyle/>
          <a:p>
            <a:r>
              <a:rPr lang="de-DE" sz="1500" b="1" dirty="0">
                <a:solidFill>
                  <a:srgbClr val="FFFFFF"/>
                </a:solidFill>
              </a:rPr>
              <a:t>2  Cross-Selling im Shop</a:t>
            </a:r>
          </a:p>
          <a:p>
            <a:pPr>
              <a:spcBef>
                <a:spcPts val="500"/>
              </a:spcBef>
            </a:pPr>
            <a:r>
              <a:rPr lang="de-DE" sz="1300" dirty="0">
                <a:solidFill>
                  <a:srgbClr val="FFFFFF"/>
                </a:solidFill>
              </a:rPr>
              <a:t>Bei Trekkingrädern automatisch die Fahrradtasche vorschlagen – hoher Support bedeutet einen großen Umsatzhebel im Massengeschäft.</a:t>
            </a:r>
          </a:p>
        </p:txBody>
      </p:sp>
      <p:sp>
        <p:nvSpPr>
          <p:cNvPr id="12" name="c3"/>
          <p:cNvSpPr/>
          <p:nvPr/>
        </p:nvSpPr>
        <p:spPr>
          <a:xfrm>
            <a:off x="715567" y="3960000"/>
            <a:ext cx="5250000" cy="1680000"/>
          </a:xfrm>
          <a:prstGeom prst="roundRect">
            <a:avLst>
              <a:gd name="adj" fmla="val 6000"/>
            </a:avLst>
          </a:prstGeom>
          <a:solidFill>
            <a:srgbClr val="004C97"/>
          </a:solidFill>
        </p:spPr>
        <p:txBody>
          <a:bodyPr lIns="220000" tIns="150000" rIns="220000" bIns="150000" anchor="t"/>
          <a:lstStyle/>
          <a:p>
            <a:r>
              <a:rPr lang="de-DE" sz="1500" b="1" dirty="0">
                <a:solidFill>
                  <a:srgbClr val="FFFFFF"/>
                </a:solidFill>
              </a:rPr>
              <a:t>3  Personalisierte Kampagnen</a:t>
            </a:r>
          </a:p>
          <a:p>
            <a:pPr>
              <a:spcBef>
                <a:spcPts val="500"/>
              </a:spcBef>
            </a:pPr>
            <a:r>
              <a:rPr lang="de-DE" sz="1300" dirty="0">
                <a:solidFill>
                  <a:srgbClr val="FFFFFF"/>
                </a:solidFill>
              </a:rPr>
              <a:t>Käufern einer Produktgruppe gezielt die gekoppelte Gruppe per Newsletter und im Kundenkonto anbieten.</a:t>
            </a:r>
          </a:p>
        </p:txBody>
      </p:sp>
      <p:sp>
        <p:nvSpPr>
          <p:cNvPr id="13" name="c4"/>
          <p:cNvSpPr/>
          <p:nvPr/>
        </p:nvSpPr>
        <p:spPr>
          <a:xfrm>
            <a:off x="6273573" y="3960000"/>
            <a:ext cx="5250000" cy="1680000"/>
          </a:xfrm>
          <a:prstGeom prst="roundRect">
            <a:avLst>
              <a:gd name="adj" fmla="val 6000"/>
            </a:avLst>
          </a:prstGeom>
          <a:solidFill>
            <a:srgbClr val="336600"/>
          </a:solidFill>
        </p:spPr>
        <p:txBody>
          <a:bodyPr lIns="220000" tIns="150000" rIns="220000" bIns="150000" anchor="t"/>
          <a:lstStyle/>
          <a:p>
            <a:r>
              <a:rPr lang="de-DE" sz="1500" b="1" dirty="0">
                <a:solidFill>
                  <a:srgbClr val="FFFFFF"/>
                </a:solidFill>
              </a:rPr>
              <a:t>4  Sortiment &amp; Platzierung</a:t>
            </a:r>
          </a:p>
          <a:p>
            <a:pPr>
              <a:spcBef>
                <a:spcPts val="500"/>
              </a:spcBef>
            </a:pPr>
            <a:r>
              <a:rPr lang="de-DE" sz="1300" dirty="0">
                <a:solidFill>
                  <a:srgbClr val="FFFFFF"/>
                </a:solidFill>
              </a:rPr>
              <a:t>Gekoppelte Gruppen gemeinsam bevorraten, im Shop nebeneinander platzieren und die Lagerplanung an den Kopplungen ausrichten.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Back-Up: Top-Assoziationsregeln (Auszug)</a:t>
            </a:r>
          </a:p>
        </p:txBody>
      </p:sp>
      <p:graphicFrame>
        <p:nvGraphicFramePr>
          <p:cNvPr id="3" name="Tabelle"/>
          <p:cNvGraphicFramePr/>
          <p:nvPr/>
        </p:nvGraphicFramePr>
        <p:xfrm>
          <a:off x="715567" y="2103139"/>
          <a:ext cx="10808006" cy="3700000"/>
        </p:xfrm>
        <a:graphic>
          <a:graphicData uri="http://schemas.openxmlformats.org/drawingml/2006/table">
            <a:tbl>
              <a:tblPr firstRow="1" bandRow="0"/>
              <a:tblGrid>
                <a:gridCol w="5400000"/>
                <a:gridCol w="1802668"/>
                <a:gridCol w="1802668"/>
                <a:gridCol w="1802670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de-DE" sz="1200" b="1" dirty="0">
                          <a:solidFill>
                            <a:srgbClr val="FFFFFF"/>
                          </a:solidFill>
                        </a:rPr>
                        <a:t>Regel</a:t>
                      </a:r>
                    </a:p>
                  </a:txBody>
                  <a:tcPr marL="91440" marR="91440" marT="45720" marB="45720" anchor="ctr"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 marL="91440" marR="91440" marT="45720" marB="45720" anchor="ctr"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rgbClr val="FFFFFF"/>
                          </a:solidFill>
                        </a:rPr>
                        <a:t>Konfidenz</a:t>
                      </a:r>
                    </a:p>
                  </a:txBody>
                  <a:tcPr marL="91440" marR="91440" marT="45720" marB="45720" anchor="ctr">
                    <a:solidFill>
                      <a:srgbClr val="33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marL="91440" marR="91440" marT="45720" marB="45720" anchor="ctr">
                    <a:solidFill>
                      <a:srgbClr val="33660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Fahrradcomputer → Rennrad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0,041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0,94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18,84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Rennrad → Fahrradcomputer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0,041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0,82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18,84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E-Lastenfahrrad → Rucksack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0,015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15,79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BMX → Caps / Mützen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0,057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0,72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6,70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Caps / Mützen → BMX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0,057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6,70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Jacken, Trekkingrad → Fahrradtasche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0,013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0,86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3,68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Schuhe, Trekkingrad → Fahrradtasche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0,020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3,64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Trekkingrad → Fahrradtasche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0,091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0,83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3,56</a:t>
                      </a:r>
                    </a:p>
                  </a:txBody>
                  <a:tcPr marL="91440" marR="91440" marT="45720" marB="45720" anchor="ctr">
                    <a:solidFill>
                      <a:srgbClr val="EAF1E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E-Trekkingrad → Fahrradtasche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0,104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0,80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rgbClr val="333333"/>
                          </a:solidFill>
                        </a:rPr>
                        <a:t>3,44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715567" y="5950000"/>
            <a:ext cx="10808006" cy="4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sz="1150" i="1" dirty="0">
                <a:solidFill>
                  <a:srgbClr val="555555"/>
                </a:solidFill>
              </a:rPr>
              <a:t>Parameter: Support ≥ 0,01 und Konfidenz ≥ 0,50  ·  Basis: 10.207 Transaktionen, 38 Produktgruppen  ·  Analyse mit dem Paket arules (Apriori).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WI">
  <a:themeElements>
    <a:clrScheme name="FernUniversität">
      <a:dk1>
        <a:sysClr val="windowText" lastClr="000000"/>
      </a:dk1>
      <a:lt1>
        <a:sysClr val="window" lastClr="FFFFFF"/>
      </a:lt1>
      <a:dk2>
        <a:srgbClr val="004C97"/>
      </a:dk2>
      <a:lt2>
        <a:srgbClr val="CCDBEA"/>
      </a:lt2>
      <a:accent1>
        <a:srgbClr val="004C97"/>
      </a:accent1>
      <a:accent2>
        <a:srgbClr val="336600"/>
      </a:accent2>
      <a:accent3>
        <a:srgbClr val="C84F0E"/>
      </a:accent3>
      <a:accent4>
        <a:srgbClr val="993333"/>
      </a:accent4>
      <a:accent5>
        <a:srgbClr val="006666"/>
      </a:accent5>
      <a:accent6>
        <a:srgbClr val="B1B3B3"/>
      </a:accent6>
      <a:hlink>
        <a:srgbClr val="004C97"/>
      </a:hlink>
      <a:folHlink>
        <a:srgbClr val="800080"/>
      </a:folHlink>
    </a:clrScheme>
    <a:fontScheme name="FernUni">
      <a:majorFont>
        <a:latin typeface="Frutiger LT Com 45 Light"/>
        <a:ea typeface=""/>
        <a:cs typeface=""/>
      </a:majorFont>
      <a:minorFont>
        <a:latin typeface="Frutiger LT Com 45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FernUni</Template>
  <TotalTime>0</TotalTime>
  <Words>178</Words>
  <Application>Microsoft Macintosh PowerPoint</Application>
  <PresentationFormat>Breitbild</PresentationFormat>
  <Paragraphs>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Frutiger LT Com 45 Light</vt:lpstr>
      <vt:lpstr>Symbol</vt:lpstr>
      <vt:lpstr>WIWI</vt:lpstr>
      <vt:lpstr>Ihr Titel für den Bericht</vt:lpstr>
      <vt:lpstr>Ihr Bericht sollte beinhalten:</vt:lpstr>
    </vt:vector>
  </TitlesOfParts>
  <Company>FernUniversität Hagen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Jessen, Malte</dc:creator>
  <cp:lastModifiedBy>Strunk, Jobin</cp:lastModifiedBy>
  <cp:revision>104</cp:revision>
  <dcterms:created xsi:type="dcterms:W3CDTF">2017-05-29T05:49:40Z</dcterms:created>
  <dcterms:modified xsi:type="dcterms:W3CDTF">2025-10-05T17:37:08Z</dcterms:modified>
</cp:coreProperties>
</file>